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6"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55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GB"/>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86D68DF9-9F82-4552-9B46-0E3F99EEAE48}" type="datetimeFigureOut">
              <a:rPr lang="el-GR" smtClean="0"/>
              <a:t>4/5/2026</a:t>
            </a:fld>
            <a:endParaRPr lang="el-GR"/>
          </a:p>
        </p:txBody>
      </p:sp>
      <p:sp>
        <p:nvSpPr>
          <p:cNvPr id="5" name="Footer Placeholder 4"/>
          <p:cNvSpPr>
            <a:spLocks noGrp="1"/>
          </p:cNvSpPr>
          <p:nvPr>
            <p:ph type="ftr" sz="quarter" idx="11"/>
          </p:nvPr>
        </p:nvSpPr>
        <p:spPr/>
        <p:txBody>
          <a:bodyPr/>
          <a:lstStyle/>
          <a:p>
            <a:endParaRPr lang="el-G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2315118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GB"/>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6D68DF9-9F82-4552-9B46-0E3F99EEAE48}" type="datetimeFigureOut">
              <a:rPr lang="el-GR" smtClean="0"/>
              <a:t>4/5/2026</a:t>
            </a:fld>
            <a:endParaRPr lang="el-GR"/>
          </a:p>
        </p:txBody>
      </p:sp>
      <p:sp>
        <p:nvSpPr>
          <p:cNvPr id="5" name="Footer Placeholder 4"/>
          <p:cNvSpPr>
            <a:spLocks noGrp="1"/>
          </p:cNvSpPr>
          <p:nvPr>
            <p:ph type="ftr" sz="quarter" idx="11"/>
          </p:nvPr>
        </p:nvSpPr>
        <p:spPr/>
        <p:txBody>
          <a:bodyPr/>
          <a:lstStyle/>
          <a:p>
            <a:endParaRPr lang="el-G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3569395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6D68DF9-9F82-4552-9B46-0E3F99EEAE48}" type="datetimeFigureOut">
              <a:rPr lang="el-GR" smtClean="0"/>
              <a:t>4/5/2026</a:t>
            </a:fld>
            <a:endParaRPr lang="el-GR"/>
          </a:p>
        </p:txBody>
      </p:sp>
      <p:sp>
        <p:nvSpPr>
          <p:cNvPr id="5" name="Footer Placeholder 4"/>
          <p:cNvSpPr>
            <a:spLocks noGrp="1"/>
          </p:cNvSpPr>
          <p:nvPr>
            <p:ph type="ftr" sz="quarter" idx="11"/>
          </p:nvPr>
        </p:nvSpPr>
        <p:spPr/>
        <p:txBody>
          <a:bodyPr/>
          <a:lstStyle/>
          <a:p>
            <a:endParaRPr lang="el-G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3641887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86D68DF9-9F82-4552-9B46-0E3F99EEAE48}" type="datetimeFigureOut">
              <a:rPr lang="el-GR" smtClean="0"/>
              <a:t>4/5/2026</a:t>
            </a:fld>
            <a:endParaRPr lang="el-GR"/>
          </a:p>
        </p:txBody>
      </p:sp>
      <p:sp>
        <p:nvSpPr>
          <p:cNvPr id="6" name="Footer Placeholder 5"/>
          <p:cNvSpPr>
            <a:spLocks noGrp="1"/>
          </p:cNvSpPr>
          <p:nvPr>
            <p:ph type="ftr" sz="quarter" idx="11"/>
          </p:nvPr>
        </p:nvSpPr>
        <p:spPr/>
        <p:txBody>
          <a:bodyPr/>
          <a:lstStyle/>
          <a:p>
            <a:endParaRPr lang="el-G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487254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6D68DF9-9F82-4552-9B46-0E3F99EEAE48}" type="datetimeFigureOut">
              <a:rPr lang="el-GR" smtClean="0"/>
              <a:t>4/5/2026</a:t>
            </a:fld>
            <a:endParaRPr lang="el-GR"/>
          </a:p>
        </p:txBody>
      </p:sp>
      <p:sp>
        <p:nvSpPr>
          <p:cNvPr id="8" name="Footer Placeholder 7"/>
          <p:cNvSpPr>
            <a:spLocks noGrp="1"/>
          </p:cNvSpPr>
          <p:nvPr>
            <p:ph type="ftr" sz="quarter" idx="11"/>
          </p:nvPr>
        </p:nvSpPr>
        <p:spPr/>
        <p:txBody>
          <a:bodyPr/>
          <a:lstStyle/>
          <a:p>
            <a:endParaRPr lang="el-G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871930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6D68DF9-9F82-4552-9B46-0E3F99EEAE48}" type="datetimeFigureOut">
              <a:rPr lang="el-GR" smtClean="0"/>
              <a:t>4/5/2026</a:t>
            </a:fld>
            <a:endParaRPr lang="el-GR"/>
          </a:p>
        </p:txBody>
      </p:sp>
      <p:sp>
        <p:nvSpPr>
          <p:cNvPr id="4" name="Footer Placeholder 3"/>
          <p:cNvSpPr>
            <a:spLocks noGrp="1"/>
          </p:cNvSpPr>
          <p:nvPr>
            <p:ph type="ftr" sz="quarter" idx="11"/>
          </p:nvPr>
        </p:nvSpPr>
        <p:spPr/>
        <p:txBody>
          <a:bodyPr/>
          <a:lstStyle/>
          <a:p>
            <a:endParaRPr lang="el-G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2255400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D68DF9-9F82-4552-9B46-0E3F99EEAE48}" type="datetimeFigureOut">
              <a:rPr lang="el-GR" smtClean="0"/>
              <a:t>4/5/2026</a:t>
            </a:fld>
            <a:endParaRPr lang="el-GR"/>
          </a:p>
        </p:txBody>
      </p:sp>
      <p:sp>
        <p:nvSpPr>
          <p:cNvPr id="3" name="Footer Placeholder 2"/>
          <p:cNvSpPr>
            <a:spLocks noGrp="1"/>
          </p:cNvSpPr>
          <p:nvPr>
            <p:ph type="ftr" sz="quarter" idx="11"/>
          </p:nvPr>
        </p:nvSpPr>
        <p:spPr/>
        <p:txBody>
          <a:bodyPr/>
          <a:lstStyle/>
          <a:p>
            <a:endParaRPr lang="el-G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2002374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GB"/>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86D68DF9-9F82-4552-9B46-0E3F99EEAE48}" type="datetimeFigureOut">
              <a:rPr lang="el-GR" smtClean="0"/>
              <a:t>4/5/2026</a:t>
            </a:fld>
            <a:endParaRPr lang="el-GR"/>
          </a:p>
        </p:txBody>
      </p:sp>
      <p:sp>
        <p:nvSpPr>
          <p:cNvPr id="6" name="Footer Placeholder 5"/>
          <p:cNvSpPr>
            <a:spLocks noGrp="1"/>
          </p:cNvSpPr>
          <p:nvPr>
            <p:ph type="ftr" sz="quarter" idx="11"/>
          </p:nvPr>
        </p:nvSpPr>
        <p:spPr/>
        <p:txBody>
          <a:bodyPr/>
          <a:lstStyle/>
          <a:p>
            <a:endParaRPr lang="el-G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389278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86D68DF9-9F82-4552-9B46-0E3F99EEAE48}" type="datetimeFigureOut">
              <a:rPr lang="el-GR" smtClean="0"/>
              <a:t>4/5/2026</a:t>
            </a:fld>
            <a:endParaRPr lang="el-GR"/>
          </a:p>
        </p:txBody>
      </p:sp>
      <p:sp>
        <p:nvSpPr>
          <p:cNvPr id="6" name="Footer Placeholder 5"/>
          <p:cNvSpPr>
            <a:spLocks noGrp="1"/>
          </p:cNvSpPr>
          <p:nvPr>
            <p:ph type="ftr" sz="quarter" idx="11"/>
          </p:nvPr>
        </p:nvSpPr>
        <p:spPr/>
        <p:txBody>
          <a:bodyPr/>
          <a:lstStyle/>
          <a:p>
            <a:endParaRPr lang="el-G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3410631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GB"/>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6D68DF9-9F82-4552-9B46-0E3F99EEAE48}" type="datetimeFigureOut">
              <a:rPr lang="el-GR" smtClean="0"/>
              <a:t>4/5/2026</a:t>
            </a:fld>
            <a:endParaRPr lang="el-GR"/>
          </a:p>
        </p:txBody>
      </p:sp>
      <p:sp>
        <p:nvSpPr>
          <p:cNvPr id="5" name="Footer Placeholder 4"/>
          <p:cNvSpPr>
            <a:spLocks noGrp="1"/>
          </p:cNvSpPr>
          <p:nvPr>
            <p:ph type="ftr" sz="quarter" idx="11"/>
          </p:nvPr>
        </p:nvSpPr>
        <p:spPr/>
        <p:txBody>
          <a:bodyPr/>
          <a:lstStyle/>
          <a:p>
            <a:endParaRPr lang="el-G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591204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GB"/>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6D68DF9-9F82-4552-9B46-0E3F99EEAE48}" type="datetimeFigureOut">
              <a:rPr lang="el-GR" smtClean="0"/>
              <a:t>4/5/2026</a:t>
            </a:fld>
            <a:endParaRPr lang="el-GR"/>
          </a:p>
        </p:txBody>
      </p:sp>
      <p:sp>
        <p:nvSpPr>
          <p:cNvPr id="5" name="Footer Placeholder 4"/>
          <p:cNvSpPr>
            <a:spLocks noGrp="1"/>
          </p:cNvSpPr>
          <p:nvPr>
            <p:ph type="ftr" sz="quarter" idx="11"/>
          </p:nvPr>
        </p:nvSpPr>
        <p:spPr/>
        <p:txBody>
          <a:bodyPr/>
          <a:lstStyle/>
          <a:p>
            <a:endParaRPr lang="el-G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32478D3-29BE-4905-8122-424F978AC7B3}" type="slidenum">
              <a:rPr lang="el-GR" smtClean="0"/>
              <a:t>‹#›</a:t>
            </a:fld>
            <a:endParaRPr lang="el-G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351666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GB"/>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86D68DF9-9F82-4552-9B46-0E3F99EEAE48}" type="datetimeFigureOut">
              <a:rPr lang="el-GR" smtClean="0"/>
              <a:t>4/5/2026</a:t>
            </a:fld>
            <a:endParaRPr lang="el-GR"/>
          </a:p>
        </p:txBody>
      </p:sp>
      <p:sp>
        <p:nvSpPr>
          <p:cNvPr id="6" name="Footer Placeholder 5"/>
          <p:cNvSpPr>
            <a:spLocks noGrp="1"/>
          </p:cNvSpPr>
          <p:nvPr>
            <p:ph type="ftr" sz="quarter" idx="11"/>
          </p:nvPr>
        </p:nvSpPr>
        <p:spPr/>
        <p:txBody>
          <a:bodyPr/>
          <a:lstStyle/>
          <a:p>
            <a:endParaRPr lang="el-G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1624053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GB"/>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86D68DF9-9F82-4552-9B46-0E3F99EEAE48}" type="datetimeFigureOut">
              <a:rPr lang="el-GR" smtClean="0"/>
              <a:t>4/5/2026</a:t>
            </a:fld>
            <a:endParaRPr lang="el-GR"/>
          </a:p>
        </p:txBody>
      </p:sp>
      <p:sp>
        <p:nvSpPr>
          <p:cNvPr id="6" name="Footer Placeholder 5"/>
          <p:cNvSpPr>
            <a:spLocks noGrp="1"/>
          </p:cNvSpPr>
          <p:nvPr>
            <p:ph type="ftr" sz="quarter" idx="11"/>
          </p:nvPr>
        </p:nvSpPr>
        <p:spPr/>
        <p:txBody>
          <a:bodyPr/>
          <a:lstStyle/>
          <a:p>
            <a:endParaRPr lang="el-G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32478D3-29BE-4905-8122-424F978AC7B3}" type="slidenum">
              <a:rPr lang="el-GR" smtClean="0"/>
              <a:t>‹#›</a:t>
            </a:fld>
            <a:endParaRPr lang="el-G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685762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GB"/>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86D68DF9-9F82-4552-9B46-0E3F99EEAE48}" type="datetimeFigureOut">
              <a:rPr lang="el-GR" smtClean="0"/>
              <a:t>4/5/2026</a:t>
            </a:fld>
            <a:endParaRPr lang="el-GR"/>
          </a:p>
        </p:txBody>
      </p:sp>
      <p:sp>
        <p:nvSpPr>
          <p:cNvPr id="6" name="Footer Placeholder 5"/>
          <p:cNvSpPr>
            <a:spLocks noGrp="1"/>
          </p:cNvSpPr>
          <p:nvPr>
            <p:ph type="ftr" sz="quarter" idx="11"/>
          </p:nvPr>
        </p:nvSpPr>
        <p:spPr/>
        <p:txBody>
          <a:bodyPr/>
          <a:lstStyle/>
          <a:p>
            <a:endParaRPr lang="el-G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42146854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6D68DF9-9F82-4552-9B46-0E3F99EEAE48}" type="datetimeFigureOut">
              <a:rPr lang="el-GR" smtClean="0"/>
              <a:t>4/5/2026</a:t>
            </a:fld>
            <a:endParaRPr lang="el-GR"/>
          </a:p>
        </p:txBody>
      </p:sp>
      <p:sp>
        <p:nvSpPr>
          <p:cNvPr id="5" name="Footer Placeholder 4"/>
          <p:cNvSpPr>
            <a:spLocks noGrp="1"/>
          </p:cNvSpPr>
          <p:nvPr>
            <p:ph type="ftr" sz="quarter" idx="11"/>
          </p:nvPr>
        </p:nvSpPr>
        <p:spPr/>
        <p:txBody>
          <a:bodyPr/>
          <a:lstStyle/>
          <a:p>
            <a:endParaRPr lang="el-G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42854627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6D68DF9-9F82-4552-9B46-0E3F99EEAE48}" type="datetimeFigureOut">
              <a:rPr lang="el-GR" smtClean="0"/>
              <a:t>4/5/2026</a:t>
            </a:fld>
            <a:endParaRPr lang="el-GR"/>
          </a:p>
        </p:txBody>
      </p:sp>
      <p:sp>
        <p:nvSpPr>
          <p:cNvPr id="5" name="Footer Placeholder 4"/>
          <p:cNvSpPr>
            <a:spLocks noGrp="1"/>
          </p:cNvSpPr>
          <p:nvPr>
            <p:ph type="ftr" sz="quarter" idx="11"/>
          </p:nvPr>
        </p:nvSpPr>
        <p:spPr/>
        <p:txBody>
          <a:bodyPr/>
          <a:lstStyle/>
          <a:p>
            <a:endParaRPr lang="el-G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1882776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6D68DF9-9F82-4552-9B46-0E3F99EEAE48}" type="datetimeFigureOut">
              <a:rPr lang="el-GR" smtClean="0"/>
              <a:t>4/5/2026</a:t>
            </a:fld>
            <a:endParaRPr lang="el-G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l-G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032478D3-29BE-4905-8122-424F978AC7B3}" type="slidenum">
              <a:rPr lang="el-GR" smtClean="0"/>
              <a:t>‹#›</a:t>
            </a:fld>
            <a:endParaRPr lang="el-GR"/>
          </a:p>
        </p:txBody>
      </p:sp>
    </p:spTree>
    <p:extLst>
      <p:ext uri="{BB962C8B-B14F-4D97-AF65-F5344CB8AC3E}">
        <p14:creationId xmlns:p14="http://schemas.microsoft.com/office/powerpoint/2010/main" val="5118150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B2495-B62C-948C-AE08-246D486D0631}"/>
              </a:ext>
            </a:extLst>
          </p:cNvPr>
          <p:cNvSpPr>
            <a:spLocks noGrp="1"/>
          </p:cNvSpPr>
          <p:nvPr>
            <p:ph type="title"/>
          </p:nvPr>
        </p:nvSpPr>
        <p:spPr>
          <a:xfrm>
            <a:off x="1640542" y="125505"/>
            <a:ext cx="10228730" cy="2160495"/>
          </a:xfrm>
        </p:spPr>
        <p:txBody>
          <a:bodyPr>
            <a:normAutofit fontScale="90000"/>
          </a:bodyPr>
          <a:lstStyle/>
          <a:p>
            <a:r>
              <a:rPr lang="el-GR" sz="3100" dirty="0"/>
              <a:t>ΕΡΓΟ ΤΩΝ ΜΑΘΗΤΩΝ ΤΗΣ Α ΛΥΚΕΙΟΥ ΤΟΥ ΓΕΛ ΝΕΑΣ ΚΥΔΩΝΙΑΣ</a:t>
            </a:r>
            <a:br>
              <a:rPr lang="el-GR" sz="3100" dirty="0"/>
            </a:br>
            <a:r>
              <a:rPr lang="el-GR" sz="3100" dirty="0"/>
              <a:t>Κασσελάκης Αντώνης ,Καρανάσος Ηλίας ,Γαροφαλάκη Κωνσταντίνα και Χούπι Λαντίμιρ</a:t>
            </a:r>
            <a:br>
              <a:rPr lang="el-GR" sz="3100" dirty="0"/>
            </a:br>
            <a:r>
              <a:rPr lang="el-GR" sz="3100" dirty="0"/>
              <a:t>Υπεύθυνος καθηγητής : Νεκτάριος Κουράκης</a:t>
            </a:r>
            <a:br>
              <a:rPr lang="el-GR" dirty="0"/>
            </a:br>
            <a:endParaRPr lang="el-GR" dirty="0"/>
          </a:p>
        </p:txBody>
      </p:sp>
      <p:sp>
        <p:nvSpPr>
          <p:cNvPr id="3" name="Content Placeholder 2">
            <a:extLst>
              <a:ext uri="{FF2B5EF4-FFF2-40B4-BE49-F238E27FC236}">
                <a16:creationId xmlns:a16="http://schemas.microsoft.com/office/drawing/2014/main" id="{820F0E8F-2C24-87AA-B723-27698F77295C}"/>
              </a:ext>
            </a:extLst>
          </p:cNvPr>
          <p:cNvSpPr>
            <a:spLocks noGrp="1"/>
          </p:cNvSpPr>
          <p:nvPr>
            <p:ph idx="1"/>
          </p:nvPr>
        </p:nvSpPr>
        <p:spPr>
          <a:xfrm>
            <a:off x="2033400" y="2572871"/>
            <a:ext cx="9835872" cy="3777622"/>
          </a:xfrm>
        </p:spPr>
        <p:txBody>
          <a:bodyPr/>
          <a:lstStyle/>
          <a:p>
            <a:r>
              <a:rPr lang="el-GR" sz="2400" b="1" dirty="0">
                <a:solidFill>
                  <a:schemeClr val="accent1"/>
                </a:solidFill>
              </a:rPr>
              <a:t>ΤΙΤΛΟΣ :  ΒΛΕΠΩ ΜΕ ΤΟΝ ΥΠΕΡΗΧΟ ΚΑΙ ΜΑΘΑΙΝΩ ΜΕ ΤΟ ΦΩΣ</a:t>
            </a:r>
          </a:p>
          <a:p>
            <a:endParaRPr lang="el-GR" dirty="0"/>
          </a:p>
        </p:txBody>
      </p:sp>
    </p:spTree>
    <p:extLst>
      <p:ext uri="{BB962C8B-B14F-4D97-AF65-F5344CB8AC3E}">
        <p14:creationId xmlns:p14="http://schemas.microsoft.com/office/powerpoint/2010/main" val="793119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6D618-8D58-F1A8-C962-968DE28B7BF2}"/>
              </a:ext>
            </a:extLst>
          </p:cNvPr>
          <p:cNvSpPr>
            <a:spLocks noGrp="1"/>
          </p:cNvSpPr>
          <p:nvPr>
            <p:ph type="ctrTitle"/>
          </p:nvPr>
        </p:nvSpPr>
        <p:spPr>
          <a:xfrm>
            <a:off x="1486619" y="-414068"/>
            <a:ext cx="9218762" cy="3139027"/>
          </a:xfrm>
        </p:spPr>
        <p:txBody>
          <a:bodyPr>
            <a:normAutofit/>
          </a:bodyPr>
          <a:lstStyle/>
          <a:p>
            <a:r>
              <a:rPr lang="el-GR" sz="3600" dirty="0">
                <a:solidFill>
                  <a:schemeClr val="accent1"/>
                </a:solidFill>
                <a:latin typeface="Times New Roman" panose="02020603050405020304" pitchFamily="18" charset="0"/>
                <a:cs typeface="Times New Roman" panose="02020603050405020304" pitchFamily="18" charset="0"/>
              </a:rPr>
              <a:t>ΜΠΟΡΟΥΜΕ ΜΕ ΜΙΑ ΙΔΙΟΚΑΤΑΣΚΕΥΗ ΝΑ ΜΕΤΡΗΣΟΥΜΕ ΤΟΝ ΧΡΟΝΟ ΠΟΥ ΧΡΕΙΑΖΕΤΑΙ ΤΟ ΦΩΣ ΚΑΙ Ο ΗΧΟΣ ΓΙΑ ΝΑ ΚΑΛΥΨΕΙ 80</a:t>
            </a:r>
            <a:r>
              <a:rPr lang="en-US" sz="3600" dirty="0">
                <a:solidFill>
                  <a:schemeClr val="accent1"/>
                </a:solidFill>
                <a:latin typeface="Times New Roman" panose="02020603050405020304" pitchFamily="18" charset="0"/>
                <a:cs typeface="Times New Roman" panose="02020603050405020304" pitchFamily="18" charset="0"/>
              </a:rPr>
              <a:t>cm</a:t>
            </a:r>
            <a:r>
              <a:rPr lang="el-GR" sz="3600" dirty="0">
                <a:solidFill>
                  <a:schemeClr val="accent1"/>
                </a:solidFill>
                <a:latin typeface="Times New Roman" panose="02020603050405020304" pitchFamily="18" charset="0"/>
                <a:cs typeface="Times New Roman" panose="02020603050405020304" pitchFamily="18" charset="0"/>
              </a:rPr>
              <a:t> </a:t>
            </a:r>
            <a:r>
              <a:rPr lang="en-US" sz="3600" dirty="0">
                <a:solidFill>
                  <a:schemeClr val="accent1"/>
                </a:solidFill>
                <a:latin typeface="Times New Roman" panose="02020603050405020304" pitchFamily="18" charset="0"/>
                <a:cs typeface="Times New Roman" panose="02020603050405020304" pitchFamily="18" charset="0"/>
              </a:rPr>
              <a:t> </a:t>
            </a:r>
            <a:r>
              <a:rPr lang="el-GR" sz="3600" dirty="0">
                <a:solidFill>
                  <a:schemeClr val="accent1"/>
                </a:solidFill>
                <a:latin typeface="Times New Roman" panose="02020603050405020304" pitchFamily="18" charset="0"/>
                <a:cs typeface="Times New Roman" panose="02020603050405020304" pitchFamily="18" charset="0"/>
              </a:rPr>
              <a:t>;</a:t>
            </a:r>
          </a:p>
        </p:txBody>
      </p:sp>
      <p:sp>
        <p:nvSpPr>
          <p:cNvPr id="3" name="Subtitle 2">
            <a:extLst>
              <a:ext uri="{FF2B5EF4-FFF2-40B4-BE49-F238E27FC236}">
                <a16:creationId xmlns:a16="http://schemas.microsoft.com/office/drawing/2014/main" id="{5D2121BE-532F-3309-8717-A0E9CB580412}"/>
              </a:ext>
            </a:extLst>
          </p:cNvPr>
          <p:cNvSpPr>
            <a:spLocks noGrp="1"/>
          </p:cNvSpPr>
          <p:nvPr>
            <p:ph type="subTitle" idx="1"/>
          </p:nvPr>
        </p:nvSpPr>
        <p:spPr>
          <a:xfrm>
            <a:off x="1712259" y="3358402"/>
            <a:ext cx="10344933" cy="2594163"/>
          </a:xfrm>
        </p:spPr>
        <p:txBody>
          <a:bodyPr>
            <a:noAutofit/>
          </a:bodyPr>
          <a:lstStyle/>
          <a:p>
            <a:r>
              <a:rPr lang="el-GR" sz="2400" dirty="0">
                <a:solidFill>
                  <a:srgbClr val="0070C0"/>
                </a:solidFill>
              </a:rPr>
              <a:t>Έχοντας υπόψη ότι ο ήχος (&amp; ο υπέρηχος ) έχει ταχύτητα 343 </a:t>
            </a:r>
            <a:r>
              <a:rPr lang="en-US" sz="2400" dirty="0">
                <a:solidFill>
                  <a:srgbClr val="0070C0"/>
                </a:solidFill>
              </a:rPr>
              <a:t>m/s </a:t>
            </a:r>
            <a:r>
              <a:rPr lang="el-GR" sz="2400" dirty="0">
                <a:solidFill>
                  <a:srgbClr val="0070C0"/>
                </a:solidFill>
              </a:rPr>
              <a:t> στους 20 βαθμούς κελσίου στον αέρα και το φως 300000000 </a:t>
            </a:r>
            <a:r>
              <a:rPr lang="en-US" sz="2400" dirty="0">
                <a:solidFill>
                  <a:srgbClr val="0070C0"/>
                </a:solidFill>
              </a:rPr>
              <a:t>m/s</a:t>
            </a:r>
            <a:r>
              <a:rPr lang="el-GR" sz="2400" dirty="0">
                <a:solidFill>
                  <a:srgbClr val="0070C0"/>
                </a:solidFill>
              </a:rPr>
              <a:t>. ‘Αρα  τα 80</a:t>
            </a:r>
            <a:r>
              <a:rPr lang="en-US" sz="2400" dirty="0">
                <a:solidFill>
                  <a:srgbClr val="0070C0"/>
                </a:solidFill>
              </a:rPr>
              <a:t>cm </a:t>
            </a:r>
            <a:r>
              <a:rPr lang="el-GR" sz="2400" dirty="0">
                <a:solidFill>
                  <a:srgbClr val="0070C0"/>
                </a:solidFill>
              </a:rPr>
              <a:t>τα καλύπτει ο ήχος σε περίπου 0,002332 δευτερόλεπτα ή περίπου </a:t>
            </a:r>
            <a:r>
              <a:rPr lang="el-GR" sz="2400" b="1" u="sng" dirty="0">
                <a:solidFill>
                  <a:srgbClr val="0070C0"/>
                </a:solidFill>
              </a:rPr>
              <a:t>1/500 του  δευτερολέπτου </a:t>
            </a:r>
            <a:r>
              <a:rPr lang="el-GR" sz="2400" dirty="0">
                <a:solidFill>
                  <a:srgbClr val="0070C0"/>
                </a:solidFill>
              </a:rPr>
              <a:t>ενώ το φως σε 0,00000000266 δευτερόλεπτα ή περίπου </a:t>
            </a:r>
            <a:r>
              <a:rPr lang="el-GR" sz="2400" b="1" u="sng" dirty="0">
                <a:solidFill>
                  <a:srgbClr val="0070C0"/>
                </a:solidFill>
              </a:rPr>
              <a:t>1/400.000.000 του δευτερολέπτου</a:t>
            </a:r>
            <a:r>
              <a:rPr lang="el-GR" sz="2400" dirty="0">
                <a:solidFill>
                  <a:srgbClr val="0070C0"/>
                </a:solidFill>
              </a:rPr>
              <a:t>=&gt; ασύληπτα μικρό χρονικό διάστημα ,  δύσκολο ναι μεν αλλά όχι ακατόρθωτο να το μετρήσουμε!!!</a:t>
            </a:r>
          </a:p>
        </p:txBody>
      </p:sp>
      <p:sp>
        <p:nvSpPr>
          <p:cNvPr id="4" name="TextBox 3">
            <a:extLst>
              <a:ext uri="{FF2B5EF4-FFF2-40B4-BE49-F238E27FC236}">
                <a16:creationId xmlns:a16="http://schemas.microsoft.com/office/drawing/2014/main" id="{9F49403E-E4E7-46DF-4C2A-F35F2E4B3652}"/>
              </a:ext>
            </a:extLst>
          </p:cNvPr>
          <p:cNvSpPr txBox="1"/>
          <p:nvPr/>
        </p:nvSpPr>
        <p:spPr>
          <a:xfrm>
            <a:off x="1712259" y="6293224"/>
            <a:ext cx="9672917" cy="369332"/>
          </a:xfrm>
          <a:prstGeom prst="rect">
            <a:avLst/>
          </a:prstGeom>
          <a:noFill/>
        </p:spPr>
        <p:txBody>
          <a:bodyPr wrap="square" rtlCol="0">
            <a:spAutoFit/>
          </a:bodyPr>
          <a:lstStyle/>
          <a:p>
            <a:r>
              <a:rPr lang="el-GR" dirty="0"/>
              <a:t>                                              </a:t>
            </a:r>
            <a:r>
              <a:rPr lang="el-GR" b="1" dirty="0"/>
              <a:t>ΓΕΛ ΝΕΑΣ ΚΥΔΩΝΙΑΣ</a:t>
            </a:r>
          </a:p>
        </p:txBody>
      </p:sp>
    </p:spTree>
    <p:extLst>
      <p:ext uri="{BB962C8B-B14F-4D97-AF65-F5344CB8AC3E}">
        <p14:creationId xmlns:p14="http://schemas.microsoft.com/office/powerpoint/2010/main" val="3660824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C0DB88-E061-1EE1-6E3E-6C4A28AA90EB}"/>
              </a:ext>
            </a:extLst>
          </p:cNvPr>
          <p:cNvSpPr>
            <a:spLocks noGrp="1"/>
          </p:cNvSpPr>
          <p:nvPr>
            <p:ph idx="1"/>
          </p:nvPr>
        </p:nvSpPr>
        <p:spPr>
          <a:xfrm>
            <a:off x="1545415" y="1348596"/>
            <a:ext cx="10410796" cy="3777622"/>
          </a:xfrm>
        </p:spPr>
        <p:txBody>
          <a:bodyPr>
            <a:normAutofit fontScale="92500"/>
          </a:bodyPr>
          <a:lstStyle/>
          <a:p>
            <a:r>
              <a:rPr lang="el-GR" sz="2400" dirty="0">
                <a:solidFill>
                  <a:schemeClr val="accent1"/>
                </a:solidFill>
              </a:rPr>
              <a:t>Με την βοήθεια  κατάλληλων αισθητήρων δημιουργήσαμε ένα εργαστηριακό εργαλείο που αναδεικνύει την συμπεριφορά των υπερηχητικών κυμάτων στον αέρα και στο νερό δείχνοντας τους παράγοντες από τους οποίους εξαρτάται. Παράλληλα  μελετήσαμε τον τρόπο με τον οποίο τα δελφίνια  βλέπουν με τον υπέρηχο και αντιλαμβάνονται το υποθαλάσσιο περιβάλλον. Όμοια ανιχνεύουμε την συμπεριφορά του φωτός (ορατού ή υπέρυθρου)  και την ταχύτητά του  (</a:t>
            </a:r>
            <a:r>
              <a:rPr lang="en-US" sz="2400" dirty="0">
                <a:solidFill>
                  <a:schemeClr val="accent1"/>
                </a:solidFill>
              </a:rPr>
              <a:t>TOF</a:t>
            </a:r>
            <a:r>
              <a:rPr lang="el-GR" sz="2400" dirty="0">
                <a:solidFill>
                  <a:schemeClr val="accent1"/>
                </a:solidFill>
              </a:rPr>
              <a:t>).</a:t>
            </a:r>
            <a:r>
              <a:rPr lang="el-GR" dirty="0"/>
              <a:t> </a:t>
            </a:r>
            <a:r>
              <a:rPr lang="el-GR" sz="2600" dirty="0">
                <a:solidFill>
                  <a:schemeClr val="accent1"/>
                </a:solidFill>
              </a:rPr>
              <a:t>Και </a:t>
            </a:r>
            <a:r>
              <a:rPr lang="el-GR" sz="2600" b="1" u="sng" dirty="0">
                <a:solidFill>
                  <a:schemeClr val="accent1"/>
                </a:solidFill>
              </a:rPr>
              <a:t>εξαιτίας του γεγονότος ότι ο χρόνος μετράει</a:t>
            </a:r>
            <a:r>
              <a:rPr lang="el-GR" sz="2600" dirty="0">
                <a:solidFill>
                  <a:schemeClr val="accent1"/>
                </a:solidFill>
              </a:rPr>
              <a:t> , θα δούμε την τεράστια χρονική διαφορά κάλυψης μιας συγκεκριμένης απόστασης από τον ήχο και από το φως ΠΕΙΡΑΜΑΤΙΚΆ</a:t>
            </a:r>
            <a:r>
              <a:rPr lang="el-GR" dirty="0"/>
              <a:t>.</a:t>
            </a:r>
          </a:p>
          <a:p>
            <a:endParaRPr lang="el-GR" sz="2400" dirty="0">
              <a:solidFill>
                <a:schemeClr val="accent1"/>
              </a:solidFill>
            </a:endParaRPr>
          </a:p>
          <a:p>
            <a:endParaRPr lang="el-GR" dirty="0"/>
          </a:p>
        </p:txBody>
      </p:sp>
      <p:sp>
        <p:nvSpPr>
          <p:cNvPr id="2" name="TextBox 1">
            <a:extLst>
              <a:ext uri="{FF2B5EF4-FFF2-40B4-BE49-F238E27FC236}">
                <a16:creationId xmlns:a16="http://schemas.microsoft.com/office/drawing/2014/main" id="{8AD56FE4-3C94-B602-335D-AE5E58BA4E1D}"/>
              </a:ext>
            </a:extLst>
          </p:cNvPr>
          <p:cNvSpPr txBox="1"/>
          <p:nvPr/>
        </p:nvSpPr>
        <p:spPr>
          <a:xfrm>
            <a:off x="1863306" y="5037826"/>
            <a:ext cx="8980098" cy="923330"/>
          </a:xfrm>
          <a:prstGeom prst="rect">
            <a:avLst/>
          </a:prstGeom>
          <a:noFill/>
        </p:spPr>
        <p:txBody>
          <a:bodyPr wrap="square" rtlCol="0">
            <a:spAutoFit/>
          </a:bodyPr>
          <a:lstStyle/>
          <a:p>
            <a:r>
              <a:rPr lang="el-GR" b="1" u="sng" dirty="0">
                <a:solidFill>
                  <a:srgbClr val="0070C0"/>
                </a:solidFill>
              </a:rPr>
              <a:t>Περίπου 1/500 του  δευτερολέπτου ήχος στον αέρα για να διανύσει 80 εκατοστά</a:t>
            </a:r>
          </a:p>
          <a:p>
            <a:r>
              <a:rPr lang="el-GR" b="1" u="sng" dirty="0">
                <a:solidFill>
                  <a:srgbClr val="0070C0"/>
                </a:solidFill>
              </a:rPr>
              <a:t> και 1/400.000.000 του δευτερολέπτου για το φως για την ίδια απόσταση!</a:t>
            </a:r>
          </a:p>
          <a:p>
            <a:r>
              <a:rPr lang="el-GR" b="1" u="sng" dirty="0">
                <a:solidFill>
                  <a:srgbClr val="0070C0"/>
                </a:solidFill>
              </a:rPr>
              <a:t>Δες </a:t>
            </a:r>
            <a:r>
              <a:rPr lang="en-US" b="1" u="sng" dirty="0">
                <a:solidFill>
                  <a:srgbClr val="0070C0"/>
                </a:solidFill>
              </a:rPr>
              <a:t>lcd </a:t>
            </a:r>
            <a:r>
              <a:rPr lang="el-GR" b="1" u="sng" dirty="0">
                <a:solidFill>
                  <a:srgbClr val="0070C0"/>
                </a:solidFill>
              </a:rPr>
              <a:t>οθόνη!</a:t>
            </a:r>
            <a:endParaRPr lang="el-GR" dirty="0"/>
          </a:p>
        </p:txBody>
      </p:sp>
    </p:spTree>
    <p:extLst>
      <p:ext uri="{BB962C8B-B14F-4D97-AF65-F5344CB8AC3E}">
        <p14:creationId xmlns:p14="http://schemas.microsoft.com/office/powerpoint/2010/main" val="3570809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2336294-F291-A959-A91E-9713DA257F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5503" y="464223"/>
            <a:ext cx="9264769" cy="5834365"/>
          </a:xfrm>
          <a:prstGeom prst="rect">
            <a:avLst/>
          </a:prstGeom>
        </p:spPr>
      </p:pic>
      <p:sp>
        <p:nvSpPr>
          <p:cNvPr id="6" name="TextBox 5">
            <a:extLst>
              <a:ext uri="{FF2B5EF4-FFF2-40B4-BE49-F238E27FC236}">
                <a16:creationId xmlns:a16="http://schemas.microsoft.com/office/drawing/2014/main" id="{5C54F2D3-AC2B-43C7-9DC4-46B693B74731}"/>
              </a:ext>
            </a:extLst>
          </p:cNvPr>
          <p:cNvSpPr txBox="1"/>
          <p:nvPr/>
        </p:nvSpPr>
        <p:spPr>
          <a:xfrm>
            <a:off x="1811547" y="94891"/>
            <a:ext cx="8988725" cy="369332"/>
          </a:xfrm>
          <a:prstGeom prst="rect">
            <a:avLst/>
          </a:prstGeom>
          <a:noFill/>
        </p:spPr>
        <p:txBody>
          <a:bodyPr wrap="square" rtlCol="0">
            <a:spAutoFit/>
          </a:bodyPr>
          <a:lstStyle/>
          <a:p>
            <a:r>
              <a:rPr lang="el-GR" dirty="0"/>
              <a:t>Μετά από πειραματισμό – χρησιμοποιώντας την συσκευή μας βρήκαμε: </a:t>
            </a:r>
          </a:p>
        </p:txBody>
      </p:sp>
      <p:sp>
        <p:nvSpPr>
          <p:cNvPr id="7" name="TextBox 6">
            <a:extLst>
              <a:ext uri="{FF2B5EF4-FFF2-40B4-BE49-F238E27FC236}">
                <a16:creationId xmlns:a16="http://schemas.microsoft.com/office/drawing/2014/main" id="{8C6BDA4C-581C-13CF-68B4-5CFC81111FAD}"/>
              </a:ext>
            </a:extLst>
          </p:cNvPr>
          <p:cNvSpPr txBox="1"/>
          <p:nvPr/>
        </p:nvSpPr>
        <p:spPr>
          <a:xfrm>
            <a:off x="1380226" y="6298588"/>
            <a:ext cx="9946257" cy="369332"/>
          </a:xfrm>
          <a:prstGeom prst="rect">
            <a:avLst/>
          </a:prstGeom>
          <a:noFill/>
        </p:spPr>
        <p:txBody>
          <a:bodyPr wrap="square" rtlCol="0">
            <a:spAutoFit/>
          </a:bodyPr>
          <a:lstStyle/>
          <a:p>
            <a:r>
              <a:rPr lang="el-GR" dirty="0"/>
              <a:t>Που είναι πολύ καλά αποτελέσματα !!! με απόκλιση λιγότερο από 1% από τα πραγματικά.</a:t>
            </a:r>
          </a:p>
        </p:txBody>
      </p:sp>
    </p:spTree>
    <p:extLst>
      <p:ext uri="{BB962C8B-B14F-4D97-AF65-F5344CB8AC3E}">
        <p14:creationId xmlns:p14="http://schemas.microsoft.com/office/powerpoint/2010/main" val="48084843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64</TotalTime>
  <Words>288</Words>
  <Application>Microsoft Office PowerPoint</Application>
  <PresentationFormat>Widescreen</PresentationFormat>
  <Paragraphs>11</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Century Gothic</vt:lpstr>
      <vt:lpstr>Times New Roman</vt:lpstr>
      <vt:lpstr>Wingdings 3</vt:lpstr>
      <vt:lpstr>Wisp</vt:lpstr>
      <vt:lpstr>ΕΡΓΟ ΤΩΝ ΜΑΘΗΤΩΝ ΤΗΣ Α ΛΥΚΕΙΟΥ ΤΟΥ ΓΕΛ ΝΕΑΣ ΚΥΔΩΝΙΑΣ Κασσελάκης Αντώνης ,Καρανάσος Ηλίας ,Γαροφαλάκη Κωνσταντίνα και Χούπι Λαντίμιρ Υπεύθυνος καθηγητής : Νεκτάριος Κουράκης </vt:lpstr>
      <vt:lpstr>ΜΠΟΡΟΥΜΕ ΜΕ ΜΙΑ ΙΔΙΟΚΑΤΑΣΚΕΥΗ ΝΑ ΜΕΤΡΗΣΟΥΜΕ ΤΟΝ ΧΡΟΝΟ ΠΟΥ ΧΡΕΙΑΖΕΤΑΙ ΤΟ ΦΩΣ ΚΑΙ Ο ΗΧΟΣ ΓΙΑ ΝΑ ΚΑΛΥΨΕΙ 80cm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ΝΕΚΤΑΡΙΟΣ ΚΟΥΡΑΚΗΣ</dc:creator>
  <cp:lastModifiedBy>ΝΕΚΤΑΡΙΟΣ ΚΟΥΡΑΚΗΣ</cp:lastModifiedBy>
  <cp:revision>11</cp:revision>
  <dcterms:created xsi:type="dcterms:W3CDTF">2026-04-17T02:17:10Z</dcterms:created>
  <dcterms:modified xsi:type="dcterms:W3CDTF">2026-05-04T18:38:05Z</dcterms:modified>
</cp:coreProperties>
</file>